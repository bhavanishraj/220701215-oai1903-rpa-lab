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tags/tag11.xml" ContentType="application/vnd.openxmlformats-officedocument.presentationml.tags+xml"/>
  <Override PartName="/ppt/notesSlides/notesSlide11.xml" ContentType="application/vnd.openxmlformats-officedocument.presentationml.notesSlide+xml"/>
  <Override PartName="/ppt/tags/tag12.xml" ContentType="application/vnd.openxmlformats-officedocument.presentationml.tags+xml"/>
  <Override PartName="/ppt/notesSlides/notesSlide12.xml" ContentType="application/vnd.openxmlformats-officedocument.presentationml.notesSlide+xml"/>
  <Override PartName="/ppt/tags/tag13.xml" ContentType="application/vnd.openxmlformats-officedocument.presentationml.tags+xml"/>
  <Override PartName="/ppt/notesSlides/notesSlide13.xml" ContentType="application/vnd.openxmlformats-officedocument.presentationml.notesSlide+xml"/>
  <Override PartName="/ppt/tags/tag14.xml" ContentType="application/vnd.openxmlformats-officedocument.presentationml.tags+xml"/>
  <Override PartName="/ppt/notesSlides/notesSlide14.xml" ContentType="application/vnd.openxmlformats-officedocument.presentationml.notesSlide+xml"/>
  <Override PartName="/ppt/tags/tag15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80" r:id="rId2"/>
    <p:sldId id="366" r:id="rId3"/>
    <p:sldId id="380" r:id="rId4"/>
    <p:sldId id="383" r:id="rId5"/>
    <p:sldId id="384" r:id="rId6"/>
    <p:sldId id="385" r:id="rId7"/>
    <p:sldId id="386" r:id="rId8"/>
    <p:sldId id="387" r:id="rId9"/>
    <p:sldId id="388" r:id="rId10"/>
    <p:sldId id="389" r:id="rId11"/>
    <p:sldId id="390" r:id="rId12"/>
    <p:sldId id="391" r:id="rId13"/>
    <p:sldId id="393" r:id="rId14"/>
    <p:sldId id="394" r:id="rId15"/>
    <p:sldId id="398" r:id="rId16"/>
    <p:sldId id="395" r:id="rId17"/>
    <p:sldId id="397" r:id="rId18"/>
    <p:sldId id="399" r:id="rId19"/>
    <p:sldId id="281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0524"/>
    <a:srgbClr val="008000"/>
    <a:srgbClr val="385D8A"/>
    <a:srgbClr val="34495E"/>
    <a:srgbClr val="FDFDFD"/>
    <a:srgbClr val="EAEAEA"/>
    <a:srgbClr val="F8F8F8"/>
    <a:srgbClr val="FF6702"/>
    <a:srgbClr val="D6B580"/>
    <a:srgbClr val="F8ED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88" autoAdjust="0"/>
    <p:restoredTop sz="94364" autoAdjust="0"/>
  </p:normalViewPr>
  <p:slideViewPr>
    <p:cSldViewPr>
      <p:cViewPr varScale="1">
        <p:scale>
          <a:sx n="92" d="100"/>
          <a:sy n="92" d="100"/>
        </p:scale>
        <p:origin x="1301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2748" y="60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0F5FD1-1E71-41C1-A531-EDAAD398F8D7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18C08-2D65-44A0-8D9B-1CEE7EB87A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6621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AEC9C6-1CE4-4880-838A-FB85AC35DCB4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A3D7D-4DD0-4519-9573-665089B668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936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624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653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685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1487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2639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373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6278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7195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4435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418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0241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2566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1093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6253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3100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4021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6749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453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106363"/>
            <a:ext cx="8763000" cy="808037"/>
          </a:xfrm>
        </p:spPr>
        <p:txBody>
          <a:bodyPr/>
          <a:lstStyle>
            <a:lvl1pPr algn="l">
              <a:defRPr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" y="990600"/>
            <a:ext cx="8763000" cy="5334000"/>
          </a:xfrm>
        </p:spPr>
        <p:txBody>
          <a:bodyPr>
            <a:normAutofit/>
          </a:bodyPr>
          <a:lstStyle>
            <a:lvl1pPr marL="342900" indent="-342900">
              <a:lnSpc>
                <a:spcPct val="114000"/>
              </a:lnSpc>
              <a:buClrTx/>
              <a:buFont typeface="Wingdings" panose="05000000000000000000" pitchFamily="2" charset="2"/>
              <a:buChar char="§"/>
              <a:defRPr sz="24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114000"/>
              </a:lnSpc>
              <a:buClrTx/>
              <a:buFont typeface="Arial" panose="020B0604020202020204" pitchFamily="34" charset="0"/>
              <a:buChar char="•"/>
              <a:defRPr sz="20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14000"/>
              </a:lnSpc>
              <a:buClrTx/>
              <a:defRPr sz="18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14000"/>
              </a:lnSpc>
              <a:buClrTx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14000"/>
              </a:lnSpc>
              <a:buClrTx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ktangel 11"/>
          <p:cNvSpPr/>
          <p:nvPr userDrawn="1"/>
        </p:nvSpPr>
        <p:spPr>
          <a:xfrm>
            <a:off x="0" y="6477000"/>
            <a:ext cx="45720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 algn="ctr">
              <a:defRPr/>
            </a:pPr>
            <a:r>
              <a:rPr lang="en-US" sz="16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Department of Computer</a:t>
            </a:r>
            <a:r>
              <a:rPr lang="en-US" sz="1600" baseline="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Science and Engineering</a:t>
            </a:r>
            <a:endParaRPr lang="da-DK" sz="16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190500" y="914400"/>
            <a:ext cx="8763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ktangel 11"/>
          <p:cNvSpPr/>
          <p:nvPr userDrawn="1"/>
        </p:nvSpPr>
        <p:spPr>
          <a:xfrm>
            <a:off x="4572000" y="6477490"/>
            <a:ext cx="45720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 algn="ctr">
              <a:defRPr/>
            </a:pPr>
            <a:r>
              <a:rPr lang="da-DK" sz="16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Rajalakshmi Engineering College 		</a:t>
            </a:r>
            <a:fld id="{6E8469F3-9EE8-43CF-BEDC-475B89412D1D}" type="slidenum">
              <a:rPr lang="da-DK" sz="1600" kern="1200" noProof="1" smtClean="0">
                <a:solidFill>
                  <a:srgbClr val="FFFFFF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pPr/>
              <a:t>‹#›</a:t>
            </a:fld>
            <a:endParaRPr lang="da-DK" sz="16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76" t="63278" r="776" b="-30898"/>
          <a:stretch/>
        </p:blipFill>
        <p:spPr>
          <a:xfrm>
            <a:off x="-72010" y="-2532"/>
            <a:ext cx="9216010" cy="3231811"/>
          </a:xfrm>
          <a:prstGeom prst="rect">
            <a:avLst/>
          </a:prstGeom>
        </p:spPr>
      </p:pic>
      <p:grpSp>
        <p:nvGrpSpPr>
          <p:cNvPr id="20" name="Group 19"/>
          <p:cNvGrpSpPr/>
          <p:nvPr/>
        </p:nvGrpSpPr>
        <p:grpSpPr>
          <a:xfrm>
            <a:off x="-14748" y="986564"/>
            <a:ext cx="9158748" cy="5764533"/>
            <a:chOff x="-14748" y="986564"/>
            <a:chExt cx="9158748" cy="5764533"/>
          </a:xfrm>
        </p:grpSpPr>
        <p:sp>
          <p:nvSpPr>
            <p:cNvPr id="22" name="TextBox 21"/>
            <p:cNvSpPr txBox="1"/>
            <p:nvPr/>
          </p:nvSpPr>
          <p:spPr>
            <a:xfrm>
              <a:off x="177781" y="4812105"/>
              <a:ext cx="4322209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Your Register No. </a:t>
              </a:r>
              <a:r>
                <a:rPr lang="en-US" sz="2000" dirty="0"/>
                <a:t>2116220701215</a:t>
              </a:r>
            </a:p>
            <a:p>
              <a:r>
                <a:rPr lang="en-US" sz="2000" b="1" dirty="0"/>
                <a:t>Name : </a:t>
              </a:r>
              <a:r>
                <a:rPr lang="en-US" sz="2000" dirty="0"/>
                <a:t>Rajakumaran Bhavanishraj</a:t>
              </a:r>
            </a:p>
            <a:p>
              <a:r>
                <a:rPr lang="en-US" sz="2000" b="1" dirty="0"/>
                <a:t>Guide Name : </a:t>
              </a:r>
              <a:r>
                <a:rPr lang="en-IN" sz="2000" dirty="0" err="1"/>
                <a:t>Dr.</a:t>
              </a:r>
              <a:r>
                <a:rPr lang="en-IN" sz="2000" dirty="0"/>
                <a:t> Duraimurugan. N</a:t>
              </a:r>
              <a:endParaRPr lang="en-US" sz="2000" dirty="0"/>
            </a:p>
            <a:p>
              <a:r>
                <a:rPr lang="en-US" sz="2000" b="1" dirty="0"/>
                <a:t>Designation and Department : </a:t>
              </a:r>
              <a:r>
                <a:rPr lang="en-US" sz="2000" dirty="0"/>
                <a:t>Associate Professor (SG) Department of Computer Science and Engineering</a:t>
              </a:r>
              <a:endParaRPr lang="en-US" sz="2000" b="1" dirty="0"/>
            </a:p>
          </p:txBody>
        </p:sp>
        <p:grpSp>
          <p:nvGrpSpPr>
            <p:cNvPr id="43" name="Group 42"/>
            <p:cNvGrpSpPr/>
            <p:nvPr/>
          </p:nvGrpSpPr>
          <p:grpSpPr>
            <a:xfrm>
              <a:off x="-14748" y="986564"/>
              <a:ext cx="9158748" cy="3628907"/>
              <a:chOff x="-14748" y="986564"/>
              <a:chExt cx="9158748" cy="3628907"/>
            </a:xfrm>
          </p:grpSpPr>
          <p:sp>
            <p:nvSpPr>
              <p:cNvPr id="45" name="Freeform 44"/>
              <p:cNvSpPr/>
              <p:nvPr/>
            </p:nvSpPr>
            <p:spPr>
              <a:xfrm>
                <a:off x="5003203" y="1761199"/>
                <a:ext cx="4140797" cy="2622445"/>
              </a:xfrm>
              <a:custGeom>
                <a:avLst/>
                <a:gdLst>
                  <a:gd name="connsiteX0" fmla="*/ 1 w 4140797"/>
                  <a:gd name="connsiteY0" fmla="*/ 0 h 2622445"/>
                  <a:gd name="connsiteX1" fmla="*/ 4140797 w 4140797"/>
                  <a:gd name="connsiteY1" fmla="*/ 0 h 2622445"/>
                  <a:gd name="connsiteX2" fmla="*/ 4140797 w 4140797"/>
                  <a:gd name="connsiteY2" fmla="*/ 2622445 h 2622445"/>
                  <a:gd name="connsiteX3" fmla="*/ 0 w 4140797"/>
                  <a:gd name="connsiteY3" fmla="*/ 2622445 h 2622445"/>
                  <a:gd name="connsiteX4" fmla="*/ 1311223 w 4140797"/>
                  <a:gd name="connsiteY4" fmla="*/ 1311222 h 2622445"/>
                  <a:gd name="connsiteX5" fmla="*/ 1 w 4140797"/>
                  <a:gd name="connsiteY5" fmla="*/ 0 h 2622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140797" h="2622445">
                    <a:moveTo>
                      <a:pt x="1" y="0"/>
                    </a:moveTo>
                    <a:lnTo>
                      <a:pt x="4140797" y="0"/>
                    </a:lnTo>
                    <a:lnTo>
                      <a:pt x="4140797" y="2622445"/>
                    </a:lnTo>
                    <a:lnTo>
                      <a:pt x="0" y="2622445"/>
                    </a:lnTo>
                    <a:lnTo>
                      <a:pt x="1311223" y="131122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AAA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Pentagon 45"/>
              <p:cNvSpPr/>
              <p:nvPr/>
            </p:nvSpPr>
            <p:spPr>
              <a:xfrm>
                <a:off x="0" y="1529371"/>
                <a:ext cx="5743977" cy="3086100"/>
              </a:xfrm>
              <a:prstGeom prst="homePlate">
                <a:avLst/>
              </a:prstGeom>
              <a:solidFill>
                <a:srgbClr val="59595B"/>
              </a:solidFill>
              <a:ln>
                <a:solidFill>
                  <a:srgbClr val="59595B"/>
                </a:solidFill>
              </a:ln>
              <a:effectLst>
                <a:outerShdw blurRad="50800" dist="38100" algn="l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grpSp>
            <p:nvGrpSpPr>
              <p:cNvPr id="47" name="Group 46"/>
              <p:cNvGrpSpPr/>
              <p:nvPr/>
            </p:nvGrpSpPr>
            <p:grpSpPr>
              <a:xfrm>
                <a:off x="-14748" y="986564"/>
                <a:ext cx="4014973" cy="1075928"/>
                <a:chOff x="-19391" y="1011603"/>
                <a:chExt cx="5278947" cy="1075928"/>
              </a:xfrm>
            </p:grpSpPr>
            <p:sp>
              <p:nvSpPr>
                <p:cNvPr id="51" name="Pentagon 50"/>
                <p:cNvSpPr/>
                <p:nvPr/>
              </p:nvSpPr>
              <p:spPr>
                <a:xfrm>
                  <a:off x="-19391" y="1011603"/>
                  <a:ext cx="5278947" cy="1075928"/>
                </a:xfrm>
                <a:prstGeom prst="homePlate">
                  <a:avLst/>
                </a:prstGeom>
                <a:solidFill>
                  <a:srgbClr val="00AAAD"/>
                </a:solidFill>
                <a:ln>
                  <a:noFill/>
                </a:ln>
                <a:effectLst>
                  <a:outerShdw blurRad="50800" dist="38100" algn="l" rotWithShape="0">
                    <a:prstClr val="black">
                      <a:alpha val="3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2" name="TextBox 51"/>
                <p:cNvSpPr txBox="1"/>
                <p:nvPr/>
              </p:nvSpPr>
              <p:spPr>
                <a:xfrm>
                  <a:off x="237041" y="1195624"/>
                  <a:ext cx="4181886" cy="70788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2000" b="1" dirty="0">
                      <a:solidFill>
                        <a:schemeClr val="bg1"/>
                      </a:solidFill>
                      <a:ea typeface="Open Sans Light" panose="020B0306030504020204" pitchFamily="34" charset="0"/>
                      <a:cs typeface="Open Sans Light" panose="020B0306030504020204" pitchFamily="34" charset="0"/>
                    </a:rPr>
                    <a:t>Introduction to </a:t>
                  </a:r>
                </a:p>
                <a:p>
                  <a:pPr algn="ctr"/>
                  <a:r>
                    <a:rPr lang="en-US" sz="2000" b="1" dirty="0">
                      <a:solidFill>
                        <a:schemeClr val="bg1"/>
                      </a:solidFill>
                      <a:ea typeface="Open Sans Light" panose="020B0306030504020204" pitchFamily="34" charset="0"/>
                      <a:cs typeface="Open Sans Light" panose="020B0306030504020204" pitchFamily="34" charset="0"/>
                    </a:rPr>
                    <a:t>Robotic Process Automation </a:t>
                  </a:r>
                </a:p>
              </p:txBody>
            </p:sp>
          </p:grpSp>
          <p:sp>
            <p:nvSpPr>
              <p:cNvPr id="48" name="TextBox 47"/>
              <p:cNvSpPr txBox="1"/>
              <p:nvPr/>
            </p:nvSpPr>
            <p:spPr>
              <a:xfrm>
                <a:off x="177782" y="2100903"/>
                <a:ext cx="4188156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400" b="1" dirty="0">
                    <a:solidFill>
                      <a:schemeClr val="bg1"/>
                    </a:solidFill>
                    <a:ea typeface="Open Sans Bold" panose="020B0806030504020204" pitchFamily="34" charset="0"/>
                    <a:cs typeface="Open Sans Bold" panose="020B0806030504020204" pitchFamily="34" charset="0"/>
                  </a:rPr>
                  <a:t>Title of the Project</a:t>
                </a:r>
              </a:p>
            </p:txBody>
          </p:sp>
          <p:sp>
            <p:nvSpPr>
              <p:cNvPr id="50" name="Freeform 49"/>
              <p:cNvSpPr/>
              <p:nvPr/>
            </p:nvSpPr>
            <p:spPr>
              <a:xfrm>
                <a:off x="4652237" y="1529372"/>
                <a:ext cx="1672363" cy="3086099"/>
              </a:xfrm>
              <a:custGeom>
                <a:avLst/>
                <a:gdLst>
                  <a:gd name="connsiteX0" fmla="*/ 0 w 1672363"/>
                  <a:gd name="connsiteY0" fmla="*/ 0 h 3086099"/>
                  <a:gd name="connsiteX1" fmla="*/ 129314 w 1672363"/>
                  <a:gd name="connsiteY1" fmla="*/ 0 h 3086099"/>
                  <a:gd name="connsiteX2" fmla="*/ 1672363 w 1672363"/>
                  <a:gd name="connsiteY2" fmla="*/ 1543050 h 3086099"/>
                  <a:gd name="connsiteX3" fmla="*/ 129314 w 1672363"/>
                  <a:gd name="connsiteY3" fmla="*/ 3086099 h 3086099"/>
                  <a:gd name="connsiteX4" fmla="*/ 0 w 1672363"/>
                  <a:gd name="connsiteY4" fmla="*/ 3086099 h 3086099"/>
                  <a:gd name="connsiteX5" fmla="*/ 1543049 w 1672363"/>
                  <a:gd name="connsiteY5" fmla="*/ 1543050 h 3086099"/>
                  <a:gd name="connsiteX6" fmla="*/ 0 w 1672363"/>
                  <a:gd name="connsiteY6" fmla="*/ 0 h 3086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72363" h="3086099">
                    <a:moveTo>
                      <a:pt x="0" y="0"/>
                    </a:moveTo>
                    <a:lnTo>
                      <a:pt x="129314" y="0"/>
                    </a:lnTo>
                    <a:lnTo>
                      <a:pt x="1672363" y="1543050"/>
                    </a:lnTo>
                    <a:lnTo>
                      <a:pt x="129314" y="3086099"/>
                    </a:lnTo>
                    <a:lnTo>
                      <a:pt x="0" y="3086099"/>
                    </a:lnTo>
                    <a:lnTo>
                      <a:pt x="1543049" y="15430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6A9"/>
              </a:solidFill>
              <a:ln>
                <a:noFill/>
              </a:ln>
              <a:effectLst>
                <a:outerShdw blurRad="50800" dist="38100" algn="l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8284" y="4441459"/>
            <a:ext cx="1813542" cy="1541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866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Abstract</a:t>
            </a:r>
            <a:endParaRPr lang="en-IN" dirty="0">
              <a:latin typeface="+mj-lt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DB5F6FC-4BF2-8D77-1815-8D5484C3B0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757" y="1268760"/>
            <a:ext cx="9207457" cy="4438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Automate the process of daily report generation and distribution using RPA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eliminate manual intervention, ensuring timely and accurate output.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Sources &amp; Report Generation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Fetch data from predefined sources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(databases, Excel, CSV) and generate standardized reports (PDF, Excel).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Email Automation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Automatically attach reports to emails and send them to designated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recipients using email clients like Outlook or Gmail.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Benefits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Reduces human error, increases operational efficiency, and enhances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decision-making by automating routine tasks and improving workflow management.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0407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Need for the Proposed System</a:t>
            </a:r>
            <a:endParaRPr lang="en-IN" dirty="0">
              <a:latin typeface="+mj-lt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058C9D2-5115-9863-E8F8-3F05B801CE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8933" y="1016732"/>
            <a:ext cx="9010800" cy="5027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Eliminates Manual Effort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Automates the creation and distribution of daily reports,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reducing manual workload.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Accuracy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Ensures consistent, error-free reports with automated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processing.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Timely Distribution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Automatically sends reports to recipients at scheduled times,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ensuring up-to-date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Increased Productivity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Frees up time for employees to focus on strategic tasks,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enhancing overall efficiency.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Operational Costs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Minimizes the costs and time spent on manual report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preparation and distribution.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and Customizable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Can be applied to various departments and customized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meet specific reporting needs.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48485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Advantages of the Proposed System</a:t>
            </a:r>
            <a:endParaRPr lang="en-IN" dirty="0">
              <a:latin typeface="+mj-l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9FE04B2-A2E1-3CA9-E55C-4C43DD65F8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379" y="620688"/>
            <a:ext cx="9033242" cy="58580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 Efficiency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Automates routine report generation and distribution, saving time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allowing employees to focus on more value-added tasks.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 and Consistency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Reduces human error in report generation, ensuring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accurate and consistent reports are delivered every time.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 Savings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Decreases the operational costs associated with manual reporting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tasks, optimizing resource allocation.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Decision-Making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Provides timely and reliable data to decision-makers,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supporting more informed and efficient decision-making.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Solution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Can be easily scaled to accommodate increasing report volumes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 new departments, offering flexibility as the organization grows.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Enhanced Workflow Automation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Streamlines workflows by automating repetitive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tasks, improving overall operational efficiency and reducing administrative overhead.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32307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Literature Survey</a:t>
            </a:r>
            <a:endParaRPr lang="en-IN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1800" b="1" dirty="0"/>
              <a:t>Paper 1: "Robotic Process Automation in Business Operations" by Smith et al. (2020)</a:t>
            </a:r>
          </a:p>
          <a:p>
            <a:pPr>
              <a:lnSpc>
                <a:spcPct val="100000"/>
              </a:lnSpc>
            </a:pPr>
            <a:r>
              <a:rPr lang="en-US" sz="1800" b="1" u="sng" dirty="0"/>
              <a:t>Advantages</a:t>
            </a:r>
            <a:r>
              <a:rPr lang="en-US" sz="1800" u="sng" dirty="0"/>
              <a:t>: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Increased Efficiency</a:t>
            </a:r>
            <a:r>
              <a:rPr lang="en-US" sz="1800" dirty="0"/>
              <a:t>: Automates repetitive tasks, saving time.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Error Reduction</a:t>
            </a:r>
            <a:r>
              <a:rPr lang="en-US" sz="1800" dirty="0"/>
              <a:t>: Ensures consistent and accurate reports.</a:t>
            </a:r>
          </a:p>
          <a:p>
            <a:pPr>
              <a:lnSpc>
                <a:spcPct val="100000"/>
              </a:lnSpc>
            </a:pPr>
            <a:r>
              <a:rPr lang="en-US" sz="1800" b="1" u="sng" dirty="0"/>
              <a:t>Disadvantages</a:t>
            </a:r>
            <a:r>
              <a:rPr lang="en-US" sz="1800" u="sng" dirty="0"/>
              <a:t>: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High Setup Costs</a:t>
            </a:r>
            <a:r>
              <a:rPr lang="en-US" sz="1800" dirty="0"/>
              <a:t>: Requires significant upfront investment.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Limited Flexibility</a:t>
            </a:r>
            <a:r>
              <a:rPr lang="en-US" sz="1800" dirty="0"/>
              <a:t>: Struggles with tasks needing human judgment.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800" dirty="0"/>
          </a:p>
          <a:p>
            <a:r>
              <a:rPr lang="en-US" sz="1800" b="1" dirty="0"/>
              <a:t>Paper 2: "Data-Driven Automation for Daily Reporting: A Case Study" by Lee &amp; Zhang (2019)</a:t>
            </a:r>
          </a:p>
          <a:p>
            <a:r>
              <a:rPr lang="en-US" sz="1800" b="1" u="sng" dirty="0"/>
              <a:t>Advantages</a:t>
            </a:r>
            <a:r>
              <a:rPr lang="en-US" sz="1800" u="sng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Real-Time Reporting</a:t>
            </a:r>
            <a:r>
              <a:rPr lang="en-US" sz="1800" dirty="0"/>
              <a:t>: Provides up-to-date information.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Customizable</a:t>
            </a:r>
            <a:r>
              <a:rPr lang="en-US" sz="1800" dirty="0"/>
              <a:t>: Tailors reports for different departments.</a:t>
            </a:r>
          </a:p>
          <a:p>
            <a:r>
              <a:rPr lang="en-US" sz="1800" b="1" u="sng" dirty="0"/>
              <a:t>Disadvantages</a:t>
            </a:r>
            <a:r>
              <a:rPr lang="en-US" sz="1800" u="sng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Data Privacy</a:t>
            </a:r>
            <a:r>
              <a:rPr lang="en-US" sz="1800" dirty="0"/>
              <a:t>: Raises concerns with sensitive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Scalability Issues</a:t>
            </a:r>
            <a:r>
              <a:rPr lang="en-US" sz="1800" dirty="0"/>
              <a:t>: Performance may degrade as data grows.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800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endParaRPr lang="en-US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6430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Main Objective</a:t>
            </a:r>
            <a:endParaRPr lang="en-IN" dirty="0">
              <a:latin typeface="+mj-l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37F452C-AA4F-91FB-079B-DB3747E20D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00" y="1088740"/>
            <a:ext cx="8869800" cy="5027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 Report Generation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Develop a system to automatically generate daily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reports by fetching data from predefined sources like databases, Excel, or CSV files.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Streamline Report Distribution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Automate the emailing process, attaching reports,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sending them to designated recipients at a scheduled time.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Eliminate Manual Intervention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Reduce human effort in creating, processing, and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distributing daily reports, ensuring consistency and accuracy.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 Efficiency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Improve operational efficiency by automating repetitive tasks,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freeing up resources for more strategic activities.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 Timely Delivery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Guarantee that reports are delivered promptly and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consistently to the right recipients at the right time.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Multiple Departments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Provide a flexible solution for various departments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(e.g., sales, HR, operations) that require daily or regular reporting.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4578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Architecture</a:t>
            </a:r>
            <a:endParaRPr lang="en-IN" dirty="0">
              <a:latin typeface="+mj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344EBC-996F-729D-E6BE-141F34F956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502" y="990600"/>
            <a:ext cx="5308996" cy="5334000"/>
          </a:xfr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62233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System Requirements</a:t>
            </a:r>
            <a:endParaRPr lang="en-IN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" y="1124744"/>
            <a:ext cx="8763000" cy="53340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u="sng" dirty="0"/>
              <a:t>Hardware Requirements:</a:t>
            </a:r>
          </a:p>
          <a:p>
            <a:pPr>
              <a:buFont typeface="+mj-lt"/>
              <a:buAutoNum type="arabicPeriod"/>
            </a:pPr>
            <a:r>
              <a:rPr lang="en-IN" b="1" dirty="0"/>
              <a:t>Processor</a:t>
            </a:r>
            <a:r>
              <a:rPr lang="en-IN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Minimum: Dual-core (2.0 GHz or higher)</a:t>
            </a:r>
          </a:p>
          <a:p>
            <a:pPr>
              <a:buFont typeface="+mj-lt"/>
              <a:buAutoNum type="arabicPeriod"/>
            </a:pPr>
            <a:r>
              <a:rPr lang="en-IN" b="1" dirty="0"/>
              <a:t>RAM</a:t>
            </a:r>
            <a:r>
              <a:rPr lang="en-IN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Minimum: 4 GB</a:t>
            </a:r>
          </a:p>
          <a:p>
            <a:pPr>
              <a:buFont typeface="+mj-lt"/>
              <a:buAutoNum type="arabicPeriod"/>
            </a:pPr>
            <a:r>
              <a:rPr lang="en-IN" b="1" dirty="0"/>
              <a:t>Storage</a:t>
            </a:r>
            <a:r>
              <a:rPr lang="en-IN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Minimum: 50 GB free disk space</a:t>
            </a:r>
          </a:p>
          <a:p>
            <a:pPr>
              <a:buFont typeface="+mj-lt"/>
              <a:buAutoNum type="arabicPeriod"/>
            </a:pPr>
            <a:r>
              <a:rPr lang="en-IN" b="1" dirty="0"/>
              <a:t>Network</a:t>
            </a:r>
            <a:r>
              <a:rPr lang="en-IN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Stable internet connection (10 Mbps or higher)</a:t>
            </a:r>
          </a:p>
          <a:p>
            <a:pPr marL="0" indent="0">
              <a:buNone/>
            </a:pPr>
            <a:r>
              <a:rPr lang="en-IN" b="1" u="sng" dirty="0"/>
              <a:t>Software Requirements:</a:t>
            </a:r>
          </a:p>
          <a:p>
            <a:pPr marL="0" indent="0">
              <a:buNone/>
            </a:pPr>
            <a:r>
              <a:rPr lang="en-IN" b="1" dirty="0"/>
              <a:t>1.    Operating System</a:t>
            </a:r>
            <a:r>
              <a:rPr lang="en-IN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Windows 10 or higher (64-bit)</a:t>
            </a:r>
          </a:p>
          <a:p>
            <a:pPr marL="0" indent="0">
              <a:buNone/>
            </a:pPr>
            <a:r>
              <a:rPr lang="en-IN" b="1" dirty="0"/>
              <a:t>2.     RPA Tool</a:t>
            </a:r>
            <a:r>
              <a:rPr lang="en-IN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UiPath (or other RPA tools)</a:t>
            </a:r>
          </a:p>
          <a:p>
            <a:pPr marL="0" indent="0">
              <a:buNone/>
            </a:pPr>
            <a:r>
              <a:rPr lang="en-IN" b="1" dirty="0"/>
              <a:t>3.     Email Client</a:t>
            </a:r>
            <a:r>
              <a:rPr lang="en-IN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Microsoft Outlook or Gmail</a:t>
            </a:r>
          </a:p>
          <a:p>
            <a:pPr marL="0" indent="0">
              <a:buNone/>
            </a:pPr>
            <a:r>
              <a:rPr lang="en-IN" b="1" dirty="0"/>
              <a:t>4.     Data Processing</a:t>
            </a:r>
            <a:r>
              <a:rPr lang="en-IN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Excel/CSV support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25227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Functional Description</a:t>
            </a:r>
            <a:endParaRPr lang="en-IN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052736"/>
            <a:ext cx="8763000" cy="5334000"/>
          </a:xfrm>
        </p:spPr>
        <p:txBody>
          <a:bodyPr>
            <a:normAutofit fontScale="85000" lnSpcReduction="10000"/>
          </a:bodyPr>
          <a:lstStyle/>
          <a:p>
            <a:r>
              <a:rPr lang="en-US" b="1" u="sng" dirty="0"/>
              <a:t>Module 1: Data Collection and Report Generation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Data Fetching</a:t>
            </a:r>
            <a:r>
              <a:rPr lang="en-US" dirty="0"/>
              <a:t>: Extracts data from sources like databases, Excel, or CSV files.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Processing</a:t>
            </a:r>
            <a:r>
              <a:rPr lang="en-US" dirty="0"/>
              <a:t>: Data is processed (e.g., calculations, filtering) to prepare for reporting.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Report Creation</a:t>
            </a:r>
            <a:r>
              <a:rPr lang="en-US" dirty="0"/>
              <a:t>: Generates reports in standardized formats (PDF, Excel) using predefined templates.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u="sng" dirty="0"/>
              <a:t>Module 2: Email Sending and Distribution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Email Creation</a:t>
            </a:r>
            <a:r>
              <a:rPr lang="en-US" dirty="0"/>
              <a:t>: Composes an email with the generated report attached.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Recipient Management</a:t>
            </a:r>
            <a:r>
              <a:rPr lang="en-US" dirty="0"/>
              <a:t>: Sends emails to predefined or user-specified recipients.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SMTP Protocol</a:t>
            </a:r>
            <a:r>
              <a:rPr lang="en-US" dirty="0"/>
              <a:t>: Uses SMTP to send emails automatically at scheduled times.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Error Handling</a:t>
            </a:r>
            <a:r>
              <a:rPr lang="en-US" dirty="0"/>
              <a:t>: Monitors for errors and alerts administrators when issues occur.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84506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Table Design</a:t>
            </a:r>
            <a:endParaRPr lang="en-IN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ADFD33-A919-6194-6DBD-30C4D9027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980728"/>
            <a:ext cx="4450809" cy="539492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39169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 Design</a:t>
            </a:r>
            <a:endParaRPr lang="en-IN" dirty="0">
              <a:latin typeface="+mj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EAAAE5-FCAA-11F5-40FC-8E9E1B4100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56" y="1052736"/>
            <a:ext cx="3358753" cy="53340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D527A7-8472-A0E3-4CB3-02F48D30A53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080" y="968580"/>
            <a:ext cx="2429888" cy="540600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23427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Implementation</a:t>
            </a:r>
            <a:endParaRPr lang="en-IN" dirty="0"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DD9B8C-4AEF-6726-8DA9-ABB8B804178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385" y="1076965"/>
            <a:ext cx="4224469" cy="27095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A75C1F-322B-A812-C537-F8D6A766C10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4115" y="1086201"/>
            <a:ext cx="4381500" cy="27003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73D1EF3-8E6D-BE8D-201F-270EE9EADC1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77" y="3897052"/>
            <a:ext cx="4352484" cy="252282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9ED2235-8462-CEA8-9854-D8C16D9FAC6F}"/>
              </a:ext>
            </a:extLst>
          </p:cNvPr>
          <p:cNvSpPr txBox="1"/>
          <p:nvPr/>
        </p:nvSpPr>
        <p:spPr>
          <a:xfrm>
            <a:off x="4549227" y="4077072"/>
            <a:ext cx="4640181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à"/>
            </a:pPr>
            <a:r>
              <a:rPr lang="en-IN" sz="1400" dirty="0">
                <a:sym typeface="Wingdings" panose="05000000000000000000" pitchFamily="2" charset="2"/>
              </a:rPr>
              <a:t>The Workflow is executed and now the original data is </a:t>
            </a:r>
          </a:p>
          <a:p>
            <a:r>
              <a:rPr lang="en-IN" sz="1400" dirty="0">
                <a:sym typeface="Wingdings" panose="05000000000000000000" pitchFamily="2" charset="2"/>
              </a:rPr>
              <a:t>filtered into another excel based on the given criteria.</a:t>
            </a:r>
          </a:p>
          <a:p>
            <a:endParaRPr lang="en-IN" sz="1400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IN" sz="1400" dirty="0">
                <a:sym typeface="Wingdings" panose="05000000000000000000" pitchFamily="2" charset="2"/>
              </a:rPr>
              <a:t>The generated report is mailed to the recipient using the </a:t>
            </a:r>
          </a:p>
          <a:p>
            <a:r>
              <a:rPr lang="en-IN" sz="1400" dirty="0">
                <a:sym typeface="Wingdings" panose="05000000000000000000" pitchFamily="2" charset="2"/>
              </a:rPr>
              <a:t>SMTP Activity.</a:t>
            </a:r>
          </a:p>
          <a:p>
            <a:endParaRPr lang="en-IN" sz="1400" dirty="0">
              <a:sym typeface="Wingdings" panose="05000000000000000000" pitchFamily="2" charset="2"/>
            </a:endParaRPr>
          </a:p>
          <a:p>
            <a:r>
              <a:rPr lang="en-IN" sz="1400" dirty="0">
                <a:sym typeface="Wingdings" panose="05000000000000000000" pitchFamily="2" charset="2"/>
              </a:rPr>
              <a:t> The report is now sent to the recipient with the excel.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69472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Conclusions</a:t>
            </a:r>
            <a:endParaRPr lang="en-IN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15C991-048F-CE67-D738-ED3D35335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660" y="1124744"/>
            <a:ext cx="8946680" cy="3780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 Minimization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Reduces human errors by automating data entry and report 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creation, improving accuracy.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Increased Productivity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Frees up employees from repetitive tasks, allowing them to 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on more critical activities.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solution is adaptable for different departments and industries,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supporting various report generation needs.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Automation Efficiency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RPA eliminates manual work in report generation,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ensuring consistent, timely, and accurate reports.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Timely Delivery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Automated report distribution ensures timely delivery to the rig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5374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Future Enhancement</a:t>
            </a:r>
            <a:endParaRPr lang="en-IN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360548" y="1700808"/>
            <a:ext cx="7596844" cy="3636404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B145FCE-E0DB-9652-57EF-4AF0E6AD3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00" y="1118353"/>
            <a:ext cx="9135899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with AI for Personalized Reports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can be enhanced by incorporating AI and machine learning to analyze past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reports and personalize the content based on the recipient’s preferences or history. 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would improve the relevance of the information sent, making reports more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actionable for the recipients. By analyzing data trends, AI could recommend specific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actions or adjustments for business processes, thereby enhancing decision-making.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Furthermore, it could optimize email content to cater to specific roles within the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organization, providing tailored insights for executives, managers, or departments.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b="1" dirty="0"/>
              <a:t>-Integration with Cloud Storage Solutions</a:t>
            </a:r>
            <a:br>
              <a:rPr lang="en-US" dirty="0"/>
            </a:br>
            <a:r>
              <a:rPr lang="en-US" dirty="0"/>
              <a:t>A future enhancement would involve integrating the system with cloud storage solutions such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dirty="0"/>
              <a:t>as Google Drive, Dropbox, or OneDrive. This would enable the bot to store the generated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dirty="0"/>
              <a:t>reports in cloud storage, providing recipients with the option to access the report at any time,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dirty="0"/>
              <a:t>even after the email has been sent. Additionally, cloud integration would enable greater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dirty="0"/>
              <a:t>collaboration, as team members could edit, comment, and update reports directly in the cloud,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dirty="0"/>
              <a:t> ensuring that all parties are working with the most up-to-date information.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108532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IEEE Paper</a:t>
            </a:r>
            <a:endParaRPr lang="en-IN" dirty="0">
              <a:latin typeface="+mj-l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97308C4-6BC3-C8D2-7717-A4DF768F74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0500" y="1746488"/>
            <a:ext cx="8489247" cy="3365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"Email Robot Tutorial - Automate Sending Emails“ </a:t>
            </a:r>
            <a:r>
              <a:rPr lang="en-US" altLang="en-US" sz="1800" dirty="0">
                <a:latin typeface="Arial" panose="020B0604020202020204" pitchFamily="34" charset="0"/>
              </a:rPr>
              <a:t>-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Author(s)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UiPath Team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"Automate Email Processing with RPA“</a:t>
            </a:r>
            <a:r>
              <a:rPr lang="en-US" altLang="en-US" sz="1800" dirty="0">
                <a:latin typeface="Arial" panose="020B0604020202020204" pitchFamily="34" charset="0"/>
              </a:rPr>
              <a:t> -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Author(s)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Richard Schoen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Fortra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"Intelligent Email Processing using Robotic Process Automation“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br>
              <a:rPr lang="en-US" altLang="en-US" sz="1800" dirty="0">
                <a:latin typeface="Arial" panose="020B0604020202020204" pitchFamily="34" charset="0"/>
              </a:rPr>
            </a:br>
            <a:r>
              <a:rPr lang="en-US" altLang="en-US" sz="1800" dirty="0">
                <a:latin typeface="Arial" panose="020B0604020202020204" pitchFamily="34" charset="0"/>
              </a:rPr>
              <a:t>-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Author(s)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IEEE Research Team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"Automation of Report Generation and Distribution in RPA“ </a:t>
            </a:r>
            <a:r>
              <a:rPr lang="en-US" altLang="en-US" sz="1800" i="1" dirty="0">
                <a:latin typeface="Arial" panose="020B0604020202020204" pitchFamily="34" charset="0"/>
              </a:rPr>
              <a:t>–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i="1" dirty="0">
                <a:latin typeface="Arial" panose="020B0604020202020204" pitchFamily="34" charset="0"/>
              </a:rPr>
              <a:t>  A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uthor(s)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IEEE Research Team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"Process Automation for Email-based Data Entry and Report Management"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Author(s)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IEEE Research Team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7262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  <a:endParaRPr lang="en-IN" dirty="0">
              <a:latin typeface="+mj-l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39555C3-9FC9-5205-E912-80E6A89CC8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9843" y="1088740"/>
            <a:ext cx="9027792" cy="5027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"Use of RPA for Email Automation with Salesforce Integration"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Discusses automating email communications through RPA integration with platforms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like Salesforce, aligning with daily report automation.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"Implementation of Robotic Process Automation (RPA) in Digital Marketing"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Explores how RPA streamlines repetitive tasks, which can be applied to automate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 generation and email distribution.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"E-Mail Assistant – Automation of E-Mail Handling and Management using RPA"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Focuses on automating email tasks like drafting and sending reports via RPA.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"Robotic Process Automation: In-Depth Analysis of Advanced Automation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Techniques and Technologies"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an overview of RPA technologies applicable to automating tasks like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 generation.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30474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532822" y="2321005"/>
            <a:ext cx="4078361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Queries</a:t>
            </a:r>
          </a:p>
        </p:txBody>
      </p:sp>
    </p:spTree>
    <p:extLst>
      <p:ext uri="{BB962C8B-B14F-4D97-AF65-F5344CB8AC3E}">
        <p14:creationId xmlns:p14="http://schemas.microsoft.com/office/powerpoint/2010/main" val="21918022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27460" y="2321005"/>
            <a:ext cx="7689093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Demonstration</a:t>
            </a:r>
          </a:p>
        </p:txBody>
      </p:sp>
    </p:spTree>
    <p:extLst>
      <p:ext uri="{BB962C8B-B14F-4D97-AF65-F5344CB8AC3E}">
        <p14:creationId xmlns:p14="http://schemas.microsoft.com/office/powerpoint/2010/main" val="26063687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844234" y="2321005"/>
            <a:ext cx="5455532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748578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9278</TotalTime>
  <Words>1412</Words>
  <Application>Microsoft Office PowerPoint</Application>
  <PresentationFormat>On-screen Show (4:3)</PresentationFormat>
  <Paragraphs>179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Open Sans Bold</vt:lpstr>
      <vt:lpstr>Open Sans Extrabold</vt:lpstr>
      <vt:lpstr>Open Sans Light</vt:lpstr>
      <vt:lpstr>Wingdings</vt:lpstr>
      <vt:lpstr>Office Theme</vt:lpstr>
      <vt:lpstr>PowerPoint Presentation</vt:lpstr>
      <vt:lpstr>Abstract</vt:lpstr>
      <vt:lpstr>Need for the Proposed System</vt:lpstr>
      <vt:lpstr>Advantages of the Proposed System</vt:lpstr>
      <vt:lpstr>Literature Survey</vt:lpstr>
      <vt:lpstr>Main Objective</vt:lpstr>
      <vt:lpstr>Architecture</vt:lpstr>
      <vt:lpstr>System Requirements</vt:lpstr>
      <vt:lpstr>Functional Description</vt:lpstr>
      <vt:lpstr>Table Design</vt:lpstr>
      <vt:lpstr>Process Design</vt:lpstr>
      <vt:lpstr>Implementation</vt:lpstr>
      <vt:lpstr>Conclusions</vt:lpstr>
      <vt:lpstr>Future Enhancement</vt:lpstr>
      <vt:lpstr>IEEE Paper</vt:lpstr>
      <vt:lpstr>References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Bhavanishraj</dc:creator>
  <cp:lastModifiedBy>Bhavanishraj Rajakumaran</cp:lastModifiedBy>
  <cp:revision>1741</cp:revision>
  <dcterms:created xsi:type="dcterms:W3CDTF">2013-05-17T03:00:03Z</dcterms:created>
  <dcterms:modified xsi:type="dcterms:W3CDTF">2024-11-21T17:18:23Z</dcterms:modified>
</cp:coreProperties>
</file>